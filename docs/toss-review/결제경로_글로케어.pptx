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1695" cy="6858000"/>
  <p:notesSz cx="6858000" cy="12191695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2"/>
          <p:cNvSpPr txBox="1"/>
          <p:nvPr/>
        </p:nvSpPr>
        <p:spPr>
          <a:xfrm>
            <a:off x="822960" y="64008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결제경로</a:t>
            </a:r>
          </a:p>
          <a:p>
            <a:pPr algn="l"/>
            <a:r>
              <a:rPr lang="ko-KR" altLang="en-US" sz="14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카드사 심사 제출용 · 홈페이지 결제경로</a:t>
            </a:r>
          </a:p>
        </p:txBody>
      </p:sp>
      <p:sp>
        <p:nvSpPr>
          <p:cNvPr id="3" name="sp3"/>
          <p:cNvSpPr txBox="1"/>
          <p:nvPr/>
        </p:nvSpPr>
        <p:spPr>
          <a:xfrm>
            <a:off x="822960" y="1755648"/>
            <a:ext cx="10515600" cy="36576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/>
        </p:txBody>
      </p:sp>
      <p:sp>
        <p:nvSpPr>
          <p:cNvPr id="4" name="sp4"/>
          <p:cNvSpPr txBox="1"/>
          <p:nvPr/>
        </p:nvSpPr>
        <p:spPr>
          <a:xfrm>
            <a:off x="822960" y="2057400"/>
            <a:ext cx="10515600" cy="3566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>
              <a:spcBef>
                <a:spcPts val="600"/>
              </a:spcBef>
            </a:pPr>
            <a:r>
              <a:rPr lang="ko-KR" altLang="en-US" sz="1500" b="1" dirty="0">
                <a:solidFill>
                  <a:srgbClr val="3D6BFF"/>
                </a:solidFill>
                <a:latin typeface="맑은 고딕"/>
                <a:ea typeface="맑은 고딕"/>
                <a:cs typeface="맑은 고딕"/>
              </a:rPr>
              <a:t>(1) 상호명  </a:t>
            </a:r>
            <a:r>
              <a:rPr lang="ko-KR" altLang="en-US" sz="15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주식회사 글로케어</a:t>
            </a:r>
          </a:p>
          <a:p>
            <a:pPr algn="l">
              <a:spcBef>
                <a:spcPts val="600"/>
              </a:spcBef>
            </a:pPr>
            <a:r>
              <a:rPr lang="ko-KR" altLang="en-US" sz="1500" b="1" dirty="0">
                <a:solidFill>
                  <a:srgbClr val="3D6BFF"/>
                </a:solidFill>
                <a:latin typeface="맑은 고딕"/>
                <a:ea typeface="맑은 고딕"/>
                <a:cs typeface="맑은 고딕"/>
              </a:rPr>
              <a:t>(2) 사업자등록번호  </a:t>
            </a:r>
            <a:r>
              <a:rPr lang="ko-KR" altLang="en-US" sz="15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239-87-03310</a:t>
            </a:r>
          </a:p>
          <a:p>
            <a:pPr algn="l">
              <a:spcBef>
                <a:spcPts val="600"/>
              </a:spcBef>
            </a:pPr>
            <a:r>
              <a:rPr lang="ko-KR" altLang="en-US" sz="1500" b="1" dirty="0">
                <a:solidFill>
                  <a:srgbClr val="3D6BFF"/>
                </a:solidFill>
                <a:latin typeface="맑은 고딕"/>
                <a:ea typeface="맑은 고딕"/>
                <a:cs typeface="맑은 고딕"/>
              </a:rPr>
              <a:t>(3) 대표자명  </a:t>
            </a:r>
            <a:r>
              <a:rPr lang="ko-KR" altLang="en-US" sz="15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홍강식</a:t>
            </a:r>
          </a:p>
          <a:p>
            <a:pPr algn="l">
              <a:spcBef>
                <a:spcPts val="600"/>
              </a:spcBef>
            </a:pPr>
            <a:r>
              <a:rPr lang="ko-KR" altLang="en-US" sz="1500" b="1" dirty="0">
                <a:solidFill>
                  <a:srgbClr val="3D6BFF"/>
                </a:solidFill>
                <a:latin typeface="맑은 고딕"/>
                <a:ea typeface="맑은 고딕"/>
                <a:cs typeface="맑은 고딕"/>
              </a:rPr>
              <a:t>(4) 통신판매업신고번호  </a:t>
            </a:r>
            <a:r>
              <a:rPr lang="ko-KR" altLang="en-US" sz="1500" dirty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(통신판매업신고번호 발급 후 기재)</a:t>
            </a:r>
          </a:p>
          <a:p>
            <a:pPr algn="l">
              <a:spcBef>
                <a:spcPts val="600"/>
              </a:spcBef>
            </a:pPr>
            <a:r>
              <a:rPr lang="ko-KR" altLang="en-US" sz="1500" b="1" dirty="0">
                <a:solidFill>
                  <a:srgbClr val="3D6BFF"/>
                </a:solidFill>
                <a:latin typeface="맑은 고딕"/>
                <a:ea typeface="맑은 고딕"/>
                <a:cs typeface="맑은 고딕"/>
              </a:rPr>
              <a:t>(5) 사업장주소  </a:t>
            </a:r>
            <a:r>
              <a:rPr lang="ko-KR" altLang="en-US" sz="15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서울특별시 광진구 능동로 120, 2층 202호 창의관(화양동, 건국대학교)</a:t>
            </a:r>
          </a:p>
          <a:p>
            <a:pPr algn="l">
              <a:spcBef>
                <a:spcPts val="600"/>
              </a:spcBef>
            </a:pPr>
            <a:r>
              <a:rPr lang="ko-KR" altLang="en-US" sz="1500" b="1" dirty="0">
                <a:solidFill>
                  <a:srgbClr val="3D6BFF"/>
                </a:solidFill>
                <a:latin typeface="맑은 고딕"/>
                <a:ea typeface="맑은 고딕"/>
                <a:cs typeface="맑은 고딕"/>
              </a:rPr>
              <a:t>(6) 유선전화번호  </a:t>
            </a:r>
            <a:r>
              <a:rPr lang="ko-KR" altLang="en-US" sz="15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02-456-0724</a:t>
            </a:r>
          </a:p>
          <a:p>
            <a:pPr algn="l">
              <a:spcBef>
                <a:spcPts val="600"/>
              </a:spcBef>
            </a:pPr>
            <a:r>
              <a:rPr lang="ko-KR" altLang="en-US" sz="1500" b="1" dirty="0">
                <a:solidFill>
                  <a:srgbClr val="3D6BFF"/>
                </a:solidFill>
                <a:latin typeface="맑은 고딕"/>
                <a:ea typeface="맑은 고딕"/>
                <a:cs typeface="맑은 고딕"/>
              </a:rPr>
              <a:t>(7) 가맹점 URL  </a:t>
            </a:r>
            <a:r>
              <a:rPr lang="ko-KR" altLang="en-US" sz="15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https://www.youstudyinkorea.com</a:t>
            </a:r>
          </a:p>
          <a:p>
            <a:pPr algn="l">
              <a:spcBef>
                <a:spcPts val="600"/>
              </a:spcBef>
            </a:pPr>
            <a:r>
              <a:rPr lang="ko-KR" altLang="en-US" sz="1500" b="1" dirty="0">
                <a:solidFill>
                  <a:srgbClr val="3D6BFF"/>
                </a:solidFill>
                <a:latin typeface="맑은 고딕"/>
                <a:ea typeface="맑은 고딕"/>
                <a:cs typeface="맑은 고딕"/>
              </a:rPr>
              <a:t>(8) 상점아이디(MID)  </a:t>
            </a:r>
            <a:r>
              <a:rPr lang="ko-KR" altLang="en-US" sz="15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youstunjcw</a:t>
            </a:r>
          </a:p>
          <a:p>
            <a:pPr algn="l">
              <a:spcBef>
                <a:spcPts val="600"/>
              </a:spcBef>
            </a:pPr>
            <a:r>
              <a:rPr lang="ko-KR" altLang="en-US" sz="1500" b="1" dirty="0">
                <a:solidFill>
                  <a:srgbClr val="3D6BFF"/>
                </a:solidFill>
                <a:latin typeface="맑은 고딕"/>
                <a:ea typeface="맑은 고딕"/>
                <a:cs typeface="맑은 고딕"/>
              </a:rPr>
              <a:t>(9) Test ID  </a:t>
            </a:r>
            <a:r>
              <a:rPr lang="ko-KR" altLang="en-US" sz="1500" dirty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(테스트 계정 ID 발급 후 기재)</a:t>
            </a:r>
          </a:p>
          <a:p>
            <a:pPr algn="l">
              <a:spcBef>
                <a:spcPts val="600"/>
              </a:spcBef>
            </a:pPr>
            <a:r>
              <a:rPr lang="ko-KR" altLang="en-US" sz="1500" b="1" dirty="0">
                <a:solidFill>
                  <a:srgbClr val="3D6BFF"/>
                </a:solidFill>
                <a:latin typeface="맑은 고딕"/>
                <a:ea typeface="맑은 고딕"/>
                <a:cs typeface="맑은 고딕"/>
              </a:rPr>
              <a:t>(10) Test PW  </a:t>
            </a:r>
            <a:r>
              <a:rPr lang="ko-KR" altLang="en-US" sz="1500" dirty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(테스트 계정 PW 발급 후 기재)</a:t>
            </a:r>
          </a:p>
        </p:txBody>
      </p:sp>
      <p:sp>
        <p:nvSpPr>
          <p:cNvPr id="5" name="sp5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algn="l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판매 상품 : 서류 발급 풀세트 150,000원 / 유학 준비 종합 컨설팅 600,000원 (부가세 포함, 무형 용역)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2"/>
          <p:cNvSpPr txBox="1"/>
          <p:nvPr/>
        </p:nvSpPr>
        <p:spPr>
          <a:xfrm>
            <a:off x="3566160" y="182880"/>
            <a:ext cx="5056632" cy="420624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하단 정보 캡처</a:t>
            </a:r>
          </a:p>
        </p:txBody>
      </p:sp>
      <p:sp>
        <p:nvSpPr>
          <p:cNvPr id="3" name="sp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필수 구성 항목 : (1) 상호명 / (2) 대표자명 / (3) 사업자등록번호 / (4) 통신판매업신고번호 / (5) 사업장주소 / (6) 유선전화번호</a:t>
            </a:r>
          </a:p>
        </p:txBody>
      </p:sp>
      <p:sp>
        <p:nvSpPr>
          <p:cNvPr id="4" name="sp4"/>
          <p:cNvSpPr txBox="1"/>
          <p:nvPr/>
        </p:nvSpPr>
        <p:spPr>
          <a:xfrm>
            <a:off x="640080" y="1298448"/>
            <a:ext cx="10908792" cy="52120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CED6"/>
            </a:solidFill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2000" b="1" dirty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캡처 필요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3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주소 : https://www.youstudyinkorea.com/  (페이지 맨 아래 사업자 정보 영역)</a:t>
            </a:r>
          </a:p>
          <a:p>
            <a:pPr algn="ctr"/>
            <a:r>
              <a:rPr lang="ko-KR" altLang="en-US" sz="6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2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· 사업자등록증과 같은 값이 모두 보일 것</a:t>
            </a:r>
          </a:p>
          <a:p>
            <a:pPr algn="ctr"/>
            <a:r>
              <a:rPr lang="ko-KR" altLang="en-US" sz="12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· 통신판매업신고번호가 '준비 중'이면 심사 반려 — 번호 발급 후 캡처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공통 규칙 : 북마크바 숨김 · 주소창에 도메인 노출 · 작업표시줄 시계 함께</a:t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파일 저장 위치 : docs/toss-review/shots/02_footer.png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2"/>
          <p:cNvSpPr txBox="1"/>
          <p:nvPr/>
        </p:nvSpPr>
        <p:spPr>
          <a:xfrm>
            <a:off x="3566160" y="182880"/>
            <a:ext cx="5056632" cy="420624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환불규정 캡처 (무형상품)</a:t>
            </a:r>
          </a:p>
        </p:txBody>
      </p:sp>
      <p:sp>
        <p:nvSpPr>
          <p:cNvPr id="3" name="sp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취소·환불 규정 전문이 보이도록 캡처합니다. 서비스 진행 단계별 환불 비율이 명시되어야 합니다.</a:t>
            </a:r>
          </a:p>
        </p:txBody>
      </p:sp>
      <p:sp>
        <p:nvSpPr>
          <p:cNvPr id="4" name="sp4"/>
          <p:cNvSpPr txBox="1"/>
          <p:nvPr/>
        </p:nvSpPr>
        <p:spPr>
          <a:xfrm>
            <a:off x="640080" y="1298448"/>
            <a:ext cx="10908792" cy="52120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CED6"/>
            </a:solidFill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2000" b="1" dirty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캡처 필요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3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주소 : https://www.youstudyinkorea.com/refund</a:t>
            </a:r>
          </a:p>
          <a:p>
            <a:pPr algn="ctr"/>
            <a:r>
              <a:rPr lang="ko-KR" altLang="en-US" sz="6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2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· 환불 기준·비율·청약철회 조항이 화면에 보일 것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공통 규칙 : 북마크바 숨김 · 주소창에 도메인 노출 · 작업표시줄 시계 함께</a:t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파일 저장 위치 : docs/toss-review/shots/03_refund.png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2"/>
          <p:cNvSpPr txBox="1"/>
          <p:nvPr/>
        </p:nvSpPr>
        <p:spPr>
          <a:xfrm>
            <a:off x="3566160" y="182880"/>
            <a:ext cx="5056632" cy="420624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로그인 / 회원가입 캡처</a:t>
            </a:r>
          </a:p>
        </p:txBody>
      </p:sp>
      <p:sp>
        <p:nvSpPr>
          <p:cNvPr id="3" name="sp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구매에 사용하는 로그인 경로를 캡처합니다. 이메일·비밀번호 로그인과 회원가입 진입이 함께 보이면 됩니다.</a:t>
            </a:r>
          </a:p>
        </p:txBody>
      </p:sp>
      <p:sp>
        <p:nvSpPr>
          <p:cNvPr id="4" name="sp4"/>
          <p:cNvSpPr txBox="1"/>
          <p:nvPr/>
        </p:nvSpPr>
        <p:spPr>
          <a:xfrm>
            <a:off x="640080" y="1298448"/>
            <a:ext cx="10908792" cy="52120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CED6"/>
            </a:solidFill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2000" b="1" dirty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캡처 필요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3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주소 : https://www.youstudyinkorea.com/student/login</a:t>
            </a:r>
          </a:p>
          <a:p>
            <a:pPr algn="ctr"/>
            <a:r>
              <a:rPr lang="ko-KR" altLang="en-US" sz="6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2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· 표지에 적은 테스트 계정으로 실제 로그인되는 화면일 것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공통 규칙 : 북마크바 숨김 · 주소창에 도메인 노출 · 작업표시줄 시계 함께</a:t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파일 저장 위치 : docs/toss-review/shots/04_login.png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2"/>
          <p:cNvSpPr txBox="1"/>
          <p:nvPr/>
        </p:nvSpPr>
        <p:spPr>
          <a:xfrm>
            <a:off x="3566160" y="182880"/>
            <a:ext cx="5056632" cy="420624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상품 선택 / 구매과정 캡처 (1/3)</a:t>
            </a:r>
          </a:p>
        </p:txBody>
      </p:sp>
      <p:sp>
        <p:nvSpPr>
          <p:cNvPr id="3" name="sp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판매 상품 목록. 상품명·금액·서비스 제공기간이 함께 보여야 합니다.</a:t>
            </a:r>
          </a:p>
        </p:txBody>
      </p:sp>
      <p:sp>
        <p:nvSpPr>
          <p:cNvPr id="4" name="sp4"/>
          <p:cNvSpPr txBox="1"/>
          <p:nvPr/>
        </p:nvSpPr>
        <p:spPr>
          <a:xfrm>
            <a:off x="640080" y="1298448"/>
            <a:ext cx="10908792" cy="52120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CED6"/>
            </a:solidFill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2000" b="1" dirty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캡처 필요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3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주소 : https://www.youstudyinkorea.com/service</a:t>
            </a:r>
          </a:p>
          <a:p>
            <a:pPr algn="ctr"/>
            <a:r>
              <a:rPr lang="ko-KR" altLang="en-US" sz="6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2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· 금액이 '금액 준비 중'이 아니라 실제 숫자로 보일 것 (SQL 0050 실행 필요)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공통 규칙 : 북마크바 숨김 · 주소창에 도메인 노출 · 작업표시줄 시계 함께</a:t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파일 저장 위치 : docs/toss-review/shots/05a_products.png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2"/>
          <p:cNvSpPr txBox="1"/>
          <p:nvPr/>
        </p:nvSpPr>
        <p:spPr>
          <a:xfrm>
            <a:off x="3566160" y="182880"/>
            <a:ext cx="5056632" cy="420624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상품 선택 / 구매과정 캡처 (2/3)</a:t>
            </a:r>
          </a:p>
        </p:txBody>
      </p:sp>
      <p:sp>
        <p:nvSpPr>
          <p:cNvPr id="3" name="sp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상품 상세. 명칭·상세설명·금액·제공기간·환불 안내가 한 화면에 보여야 합니다.</a:t>
            </a:r>
          </a:p>
        </p:txBody>
      </p:sp>
      <p:sp>
        <p:nvSpPr>
          <p:cNvPr id="4" name="sp4"/>
          <p:cNvSpPr txBox="1"/>
          <p:nvPr/>
        </p:nvSpPr>
        <p:spPr>
          <a:xfrm>
            <a:off x="640080" y="1298448"/>
            <a:ext cx="10908792" cy="52120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CED6"/>
            </a:solidFill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2000" b="1" dirty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캡처 필요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3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주소 : https://www.youstudyinkorea.com/service/full-consulting</a:t>
            </a:r>
          </a:p>
          <a:p>
            <a:pPr algn="ctr"/>
            <a:r>
              <a:rPr lang="ko-KR" altLang="en-US" sz="6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2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· 단건 최고가 상품(유학 준비 종합 컨설팅, 600,000원) 기준으로 캡처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공통 규칙 : 북마크바 숨김 · 주소창에 도메인 노출 · 작업표시줄 시계 함께</a:t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파일 저장 위치 : docs/toss-review/shots/05b_detail.png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2"/>
          <p:cNvSpPr txBox="1"/>
          <p:nvPr/>
        </p:nvSpPr>
        <p:spPr>
          <a:xfrm>
            <a:off x="3566160" y="182880"/>
            <a:ext cx="5056632" cy="420624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⑤ 상품 선택 / 구매과정 캡처 (3/3)</a:t>
            </a:r>
          </a:p>
        </p:txBody>
      </p:sp>
      <p:sp>
        <p:nvSpPr>
          <p:cNvPr id="3" name="sp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주문서. 주문 상품·결제 금액·주문자 정보·판매자 정보·결제수단 선택·약관 동의가 한 화면에 보여야 합니다.</a:t>
            </a:r>
          </a:p>
        </p:txBody>
      </p:sp>
      <p:sp>
        <p:nvSpPr>
          <p:cNvPr id="4" name="sp4"/>
          <p:cNvSpPr txBox="1"/>
          <p:nvPr/>
        </p:nvSpPr>
        <p:spPr>
          <a:xfrm>
            <a:off x="640080" y="1298448"/>
            <a:ext cx="10908792" cy="52120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CED6"/>
            </a:solidFill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2000" b="1" dirty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캡처 필요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3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주소 : https://www.youstudyinkorea.com/student/order/full-consulting</a:t>
            </a:r>
          </a:p>
          <a:p>
            <a:pPr algn="ctr"/>
            <a:r>
              <a:rPr lang="ko-KR" altLang="en-US" sz="6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2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· 로그인 상태에서 접근</a:t>
            </a:r>
          </a:p>
          <a:p>
            <a:pPr algn="ctr"/>
            <a:r>
              <a:rPr lang="ko-KR" altLang="en-US" sz="12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· 결제수단(신용/체크카드) 선택 영역이 보일 것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공통 규칙 : 북마크바 숨김 · 주소창에 도메인 노출 · 작업표시줄 시계 함께</a:t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파일 저장 위치 : docs/toss-review/shots/05c_order.png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2"/>
          <p:cNvSpPr txBox="1"/>
          <p:nvPr/>
        </p:nvSpPr>
        <p:spPr>
          <a:xfrm>
            <a:off x="3566160" y="182880"/>
            <a:ext cx="5056632" cy="420624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⑥ 카드 결제경로 캡처</a:t>
            </a:r>
          </a:p>
        </p:txBody>
      </p:sp>
      <p:sp>
        <p:nvSpPr>
          <p:cNvPr id="3" name="sp3"/>
          <p:cNvSpPr txBox="1"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[결제하기]를 눌러 뜬 카드 결제창. 결제 금액과 상품명이 창 안에 함께 보여야 합니다. 테스트용 결제창으로 캡처해도 심사가 가능합니다.</a:t>
            </a:r>
          </a:p>
        </p:txBody>
      </p:sp>
      <p:sp>
        <p:nvSpPr>
          <p:cNvPr id="4" name="sp4"/>
          <p:cNvSpPr txBox="1"/>
          <p:nvPr/>
        </p:nvSpPr>
        <p:spPr>
          <a:xfrm>
            <a:off x="640080" y="1298448"/>
            <a:ext cx="10908792" cy="5212080"/>
          </a:xfrm>
          <a:prstGeom prst="rect">
            <a:avLst/>
          </a:prstGeom>
          <a:solidFill>
            <a:srgbClr val="F3F5F8"/>
          </a:solidFill>
          <a:ln w="12700">
            <a:solidFill>
              <a:srgbClr val="C9CED6"/>
            </a:solidFill>
          </a:ln>
        </p:spPr>
        <p:txBody>
          <a:bodyPr wrap="square" lIns="91440" tIns="91440" rIns="91440" bIns="91440" anchor="ctr">
            <a:normAutofit/>
          </a:bodyPr>
          <a:lstStyle/>
          <a:p>
            <a:pPr algn="ctr"/>
            <a:r>
              <a:rPr lang="ko-KR" altLang="en-US" sz="2000" b="1" dirty="0">
                <a:solidFill>
                  <a:srgbClr val="D93B3B"/>
                </a:solidFill>
                <a:latin typeface="맑은 고딕"/>
                <a:ea typeface="맑은 고딕"/>
                <a:cs typeface="맑은 고딕"/>
              </a:rPr>
              <a:t>캡처 필요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3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>주소 : 주문서 → [결제하기] → 토스 결제창</a:t>
            </a:r>
          </a:p>
          <a:p>
            <a:pPr algn="ctr"/>
            <a:r>
              <a:rPr lang="ko-KR" altLang="en-US" sz="6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2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· 결제창 안에 금액·상품명이 보일 것</a:t>
            </a:r>
          </a:p>
          <a:p>
            <a:pPr algn="ctr"/>
            <a:r>
              <a:rPr lang="ko-KR" altLang="en-US" sz="12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· 카드사 선택 + 약관 전체 동의 화면까지 캡처</a:t>
            </a:r>
          </a:p>
          <a:p>
            <a:pPr algn="ctr"/>
            <a:r>
              <a:rPr lang="ko-KR" altLang="en-US" sz="800" dirty="0">
                <a:solidFill>
                  <a:srgbClr val="1A1D21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공통 규칙 : 북마크바 숨김 · 주소창에 도메인 노출 · 작업표시줄 시계 함께</a:t>
            </a:r>
          </a:p>
          <a:p>
            <a:pPr algn="ctr"/>
            <a:r>
              <a:rPr lang="ko-KR" altLang="en-US" sz="110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파일 저장 위치 : docs/toss-review/shots/06_payment.png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D6BF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xsi="http://www.w3.org/2001/XMLSchema-instance">
  <dc:title>결제경로 - 주식회사 글로케어</dc:title>
  <dc:creator>GLOCARE</dc:creator>
  <cp:lastModifiedBy>GLOCARE</cp:lastModifiedBy>
</cp:coreProperties>
</file>